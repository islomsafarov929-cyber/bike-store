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Maven Pro" panose="020B0604020202020204" charset="0"/>
      <p:regular r:id="rId11"/>
      <p:bold r:id="rId12"/>
    </p:embeddedFont>
    <p:embeddedFont>
      <p:font typeface="Nunito" pitchFamily="2" charset="-52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lom Safarov" userId="cd2c2507deb72c88" providerId="LiveId" clId="{16B32257-A853-44CC-8F9F-C3FF693B583D}"/>
    <pc:docChg chg="undo custSel modSld">
      <pc:chgData name="Islom Safarov" userId="cd2c2507deb72c88" providerId="LiveId" clId="{16B32257-A853-44CC-8F9F-C3FF693B583D}" dt="2025-12-10T14:51:04.912" v="79" actId="1076"/>
      <pc:docMkLst>
        <pc:docMk/>
      </pc:docMkLst>
      <pc:sldChg chg="modAnim">
        <pc:chgData name="Islom Safarov" userId="cd2c2507deb72c88" providerId="LiveId" clId="{16B32257-A853-44CC-8F9F-C3FF693B583D}" dt="2025-12-10T14:44:47.114" v="3"/>
        <pc:sldMkLst>
          <pc:docMk/>
          <pc:sldMk cId="0" sldId="257"/>
        </pc:sldMkLst>
      </pc:sldChg>
      <pc:sldChg chg="modAnim">
        <pc:chgData name="Islom Safarov" userId="cd2c2507deb72c88" providerId="LiveId" clId="{16B32257-A853-44CC-8F9F-C3FF693B583D}" dt="2025-12-10T14:45:27.603" v="6"/>
        <pc:sldMkLst>
          <pc:docMk/>
          <pc:sldMk cId="0" sldId="258"/>
        </pc:sldMkLst>
      </pc:sldChg>
      <pc:sldChg chg="modAnim">
        <pc:chgData name="Islom Safarov" userId="cd2c2507deb72c88" providerId="LiveId" clId="{16B32257-A853-44CC-8F9F-C3FF693B583D}" dt="2025-12-10T14:50:33.729" v="77"/>
        <pc:sldMkLst>
          <pc:docMk/>
          <pc:sldMk cId="0" sldId="259"/>
        </pc:sldMkLst>
      </pc:sldChg>
      <pc:sldChg chg="modAnim">
        <pc:chgData name="Islom Safarov" userId="cd2c2507deb72c88" providerId="LiveId" clId="{16B32257-A853-44CC-8F9F-C3FF693B583D}" dt="2025-12-10T14:47:03.791" v="22"/>
        <pc:sldMkLst>
          <pc:docMk/>
          <pc:sldMk cId="0" sldId="260"/>
        </pc:sldMkLst>
      </pc:sldChg>
      <pc:sldChg chg="modSp mod modAnim">
        <pc:chgData name="Islom Safarov" userId="cd2c2507deb72c88" providerId="LiveId" clId="{16B32257-A853-44CC-8F9F-C3FF693B583D}" dt="2025-12-10T14:48:01.617" v="29"/>
        <pc:sldMkLst>
          <pc:docMk/>
          <pc:sldMk cId="0" sldId="261"/>
        </pc:sldMkLst>
        <pc:spChg chg="mod">
          <ac:chgData name="Islom Safarov" userId="cd2c2507deb72c88" providerId="LiveId" clId="{16B32257-A853-44CC-8F9F-C3FF693B583D}" dt="2025-12-10T14:47:36.800" v="26" actId="1076"/>
          <ac:spMkLst>
            <pc:docMk/>
            <pc:sldMk cId="0" sldId="261"/>
            <ac:spMk id="310" creationId="{00000000-0000-0000-0000-000000000000}"/>
          </ac:spMkLst>
        </pc:spChg>
      </pc:sldChg>
      <pc:sldChg chg="modAnim">
        <pc:chgData name="Islom Safarov" userId="cd2c2507deb72c88" providerId="LiveId" clId="{16B32257-A853-44CC-8F9F-C3FF693B583D}" dt="2025-12-10T14:48:25.677" v="33"/>
        <pc:sldMkLst>
          <pc:docMk/>
          <pc:sldMk cId="0" sldId="262"/>
        </pc:sldMkLst>
      </pc:sldChg>
      <pc:sldChg chg="modSp mod modAnim">
        <pc:chgData name="Islom Safarov" userId="cd2c2507deb72c88" providerId="LiveId" clId="{16B32257-A853-44CC-8F9F-C3FF693B583D}" dt="2025-12-10T14:51:04.912" v="79" actId="1076"/>
        <pc:sldMkLst>
          <pc:docMk/>
          <pc:sldMk cId="0" sldId="263"/>
        </pc:sldMkLst>
        <pc:spChg chg="mod">
          <ac:chgData name="Islom Safarov" userId="cd2c2507deb72c88" providerId="LiveId" clId="{16B32257-A853-44CC-8F9F-C3FF693B583D}" dt="2025-12-10T14:51:04.912" v="79" actId="1076"/>
          <ac:spMkLst>
            <pc:docMk/>
            <pc:sldMk cId="0" sldId="263"/>
            <ac:spMk id="321" creationId="{00000000-0000-0000-0000-000000000000}"/>
          </ac:spMkLst>
        </pc:spChg>
        <pc:spChg chg="mod">
          <ac:chgData name="Islom Safarov" userId="cd2c2507deb72c88" providerId="LiveId" clId="{16B32257-A853-44CC-8F9F-C3FF693B583D}" dt="2025-12-10T14:50:59.393" v="78" actId="1076"/>
          <ac:spMkLst>
            <pc:docMk/>
            <pc:sldMk cId="0" sldId="263"/>
            <ac:spMk id="3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f3842c8ca_0_1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f3842c8ca_0_1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f3842c8ca_0_3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f3842c8ca_0_3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f3842c8ca_0_3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f3842c8ca_0_3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f3842c8ca_0_3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f3842c8ca_0_3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f3842c8ca_0_3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f3842c8ca_0_3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f3842c8ca_0_3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f3842c8ca_0_3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f3842c8ca_0_3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f3842c8ca_0_3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51925" y="815576"/>
            <a:ext cx="5093700" cy="15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dirty="0"/>
              <a:t>BikeStore BI Tizimi</a:t>
            </a:r>
            <a:endParaRPr sz="4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Bunda SQL Server orqali ma’lumotlar taxlili va automatizatsiyasi jamlangan</a:t>
            </a:r>
            <a:endParaRPr sz="1800" dirty="0"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51925" y="43575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Safarov Islom (F41)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477775" y="870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                 BI ssenariysi:</a:t>
            </a:r>
            <a:endParaRPr dirty="0"/>
          </a:p>
        </p:txBody>
      </p:sp>
      <p:sp>
        <p:nvSpPr>
          <p:cNvPr id="284" name="Google Shape;284;p14"/>
          <p:cNvSpPr txBox="1">
            <a:spLocks noGrp="1"/>
          </p:cNvSpPr>
          <p:nvPr>
            <p:ph type="body" idx="1"/>
          </p:nvPr>
        </p:nvSpPr>
        <p:spPr>
          <a:xfrm>
            <a:off x="1195075" y="1238525"/>
            <a:ext cx="7030500" cy="34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Ma’lumot manbalari:</a:t>
            </a:r>
            <a:r>
              <a:rPr lang="en" sz="1400" dirty="0"/>
              <a:t> Orders, Order_Items, Customers, Products, Staffs, Stores, Stocks va boshqalar.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Muammo:</a:t>
            </a:r>
            <a:r>
              <a:rPr lang="en" sz="1400" dirty="0"/>
              <a:t> Ma’lumotlar </a:t>
            </a:r>
            <a:r>
              <a:rPr lang="en" sz="1400" u="sng" dirty="0"/>
              <a:t>vizualizatsiyasi </a:t>
            </a:r>
            <a:r>
              <a:rPr lang="en" sz="1400" dirty="0"/>
              <a:t>va </a:t>
            </a:r>
            <a:r>
              <a:rPr lang="en" sz="1400" u="sng" dirty="0"/>
              <a:t>automatlashtirishni </a:t>
            </a:r>
            <a:r>
              <a:rPr lang="en" sz="1400" dirty="0"/>
              <a:t>keyingi pog’onaga olib chiqish.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 b="1" dirty="0"/>
              <a:t>Loyihadagi boshqichlar:</a:t>
            </a:r>
            <a:r>
              <a:rPr lang="en" sz="1400" dirty="0"/>
              <a:t> </a:t>
            </a:r>
            <a:endParaRPr sz="14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/>
              <a:t>1)Jadvallarni yaratish;</a:t>
            </a:r>
            <a:endParaRPr sz="14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/>
              <a:t>2)ularga ma’lumot kiritish, ma’lumotlarni taxlil qilib chiqish:</a:t>
            </a:r>
            <a:endParaRPr sz="14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/>
              <a:t>3)KPI lar asosida ko’rinish(view)larni va store procedure larni yaratish:</a:t>
            </a:r>
            <a:endParaRPr sz="140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/>
              <a:t>4)automatizatsiyani sozlab yaratish.</a:t>
            </a:r>
            <a:endParaRPr sz="1400"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Yechim Arhitekturasi: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Normalizatsiya Va ETL</a:t>
            </a:r>
            <a:endParaRPr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4070100" cy="30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/>
              <a:t>Maqsad</a:t>
            </a:r>
            <a:r>
              <a:rPr lang="en" sz="1500" dirty="0"/>
              <a:t> - CSV fayldagi ma’lumotlarni SQL Serverga yuqlash va toza sxema yaratish;</a:t>
            </a:r>
            <a:endParaRPr sz="15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 dirty="0"/>
              <a:t>Ingestion Usuli - </a:t>
            </a:r>
            <a:r>
              <a:rPr lang="en" sz="1500" dirty="0"/>
              <a:t>BULK INSERT yoramida ma’lumotlarstaging jadvallarga yuklanadi:</a:t>
            </a:r>
            <a:endParaRPr sz="15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b="1" dirty="0"/>
              <a:t>Bog’lanish: </a:t>
            </a:r>
            <a:r>
              <a:rPr lang="en" sz="1500" dirty="0"/>
              <a:t>Jadvallar orasidagi bog’lanishlarni ko’rish, ular to’g’ri va aniqligiga ishonch xosil qilish.</a:t>
            </a:r>
            <a:endParaRPr sz="1500" dirty="0"/>
          </a:p>
        </p:txBody>
      </p:sp>
      <p:pic>
        <p:nvPicPr>
          <p:cNvPr id="291" name="Google Shape;291;p15" title="DatabaseDiagram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012" y="417575"/>
            <a:ext cx="3911388" cy="457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>
            <a:spLocks noGrp="1"/>
          </p:cNvSpPr>
          <p:nvPr>
            <p:ph type="title"/>
          </p:nvPr>
        </p:nvSpPr>
        <p:spPr>
          <a:xfrm>
            <a:off x="1303800" y="18535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Avtomatlashtirish Asosi: SQL Agent Job</a:t>
            </a:r>
            <a:endParaRPr dirty="0"/>
          </a:p>
        </p:txBody>
      </p:sp>
      <p:sp>
        <p:nvSpPr>
          <p:cNvPr id="297" name="Google Shape;297;p16"/>
          <p:cNvSpPr txBox="1">
            <a:spLocks noGrp="1"/>
          </p:cNvSpPr>
          <p:nvPr>
            <p:ph type="body" idx="1"/>
          </p:nvPr>
        </p:nvSpPr>
        <p:spPr>
          <a:xfrm>
            <a:off x="1303800" y="1184650"/>
            <a:ext cx="4059300" cy="33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Maqsad:</a:t>
            </a:r>
            <a:r>
              <a:rPr lang="en" sz="1600" dirty="0"/>
              <a:t> Ma'lumotlarni kunlik/haftalik yuklash va hisobotlarni avtomatlashtirish: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/>
              <a:t>Avtomatlashtirish Qadamlari: </a:t>
            </a:r>
            <a:endParaRPr sz="16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1)Ma'lumotlarni yuklash: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dirty="0"/>
              <a:t>2)Kamida 2 ta Stored Procedure ni ishga tushirish: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/>
              <a:t>3)Natijalarni audit/hisobot jadvallariga saqlash.</a:t>
            </a:r>
            <a:endParaRPr sz="1600" dirty="0"/>
          </a:p>
        </p:txBody>
      </p:sp>
      <p:sp>
        <p:nvSpPr>
          <p:cNvPr id="298" name="Google Shape;298;p16"/>
          <p:cNvSpPr txBox="1"/>
          <p:nvPr/>
        </p:nvSpPr>
        <p:spPr>
          <a:xfrm>
            <a:off x="5643725" y="1493500"/>
            <a:ext cx="3000000" cy="27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AutoNum type="arabicPeriod"/>
            </a:pPr>
            <a:r>
              <a:rPr lang="en" sz="2000" b="1" dirty="0">
                <a:solidFill>
                  <a:srgbClr val="666666"/>
                </a:solidFill>
                <a:highlight>
                  <a:schemeClr val="lt1"/>
                </a:highlight>
              </a:rPr>
              <a:t>SSMS -&gt; Object Explorer - &gt; </a:t>
            </a:r>
            <a:endParaRPr sz="2000" b="1" dirty="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AutoNum type="arabicPeriod"/>
            </a:pPr>
            <a:r>
              <a:rPr lang="en" sz="2000" b="1" dirty="0">
                <a:solidFill>
                  <a:srgbClr val="666666"/>
                </a:solidFill>
                <a:highlight>
                  <a:schemeClr val="lt1"/>
                </a:highlight>
              </a:rPr>
              <a:t>SQLAgent -&gt; </a:t>
            </a:r>
            <a:endParaRPr sz="2000" b="1" dirty="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AutoNum type="arabicPeriod"/>
            </a:pPr>
            <a:r>
              <a:rPr lang="en" sz="2000" b="1" dirty="0">
                <a:solidFill>
                  <a:srgbClr val="666666"/>
                </a:solidFill>
                <a:highlight>
                  <a:schemeClr val="lt1"/>
                </a:highlight>
              </a:rPr>
              <a:t>Job(Right Click) -&gt; New Job -&gt; </a:t>
            </a:r>
            <a:endParaRPr sz="2000" b="1" dirty="0">
              <a:solidFill>
                <a:srgbClr val="666666"/>
              </a:solidFill>
              <a:highlight>
                <a:schemeClr val="lt1"/>
              </a:highlight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AutoNum type="arabicPeriod"/>
            </a:pPr>
            <a:r>
              <a:rPr lang="en" sz="2000" b="1" dirty="0">
                <a:solidFill>
                  <a:srgbClr val="666666"/>
                </a:solidFill>
                <a:highlight>
                  <a:schemeClr val="lt1"/>
                </a:highlight>
              </a:rPr>
              <a:t>JobName, Steps, Schedule, Alert, Notification.</a:t>
            </a:r>
            <a:endParaRPr sz="2000" b="1" dirty="0">
              <a:solidFill>
                <a:srgbClr val="666666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>
            <a:spLocks noGrp="1"/>
          </p:cNvSpPr>
          <p:nvPr>
            <p:ph type="title"/>
          </p:nvPr>
        </p:nvSpPr>
        <p:spPr>
          <a:xfrm>
            <a:off x="1325525" y="3919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Asosiy Biznes Ko'rsatkichlari (KPIs)</a:t>
            </a:r>
            <a:endParaRPr dirty="0"/>
          </a:p>
        </p:txBody>
      </p:sp>
      <p:sp>
        <p:nvSpPr>
          <p:cNvPr id="304" name="Google Shape;304;p17"/>
          <p:cNvSpPr txBox="1">
            <a:spLocks noGrp="1"/>
          </p:cNvSpPr>
          <p:nvPr>
            <p:ph type="body" idx="1"/>
          </p:nvPr>
        </p:nvSpPr>
        <p:spPr>
          <a:xfrm>
            <a:off x="1010200" y="1457225"/>
            <a:ext cx="7030500" cy="33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b="1" dirty="0"/>
              <a:t>Average Order Value - </a:t>
            </a:r>
            <a:r>
              <a:rPr lang="en" sz="1500" dirty="0"/>
              <a:t>har bir buyurtmadan olinadigan o‘rtacha daromadni ko‘rsatib, BI’da daromad tahlilining asosiy ko‘rsatkichlaridan biridir.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b="1" dirty="0"/>
              <a:t>Total Revenue - </a:t>
            </a:r>
            <a:r>
              <a:rPr lang="en" sz="1500" dirty="0"/>
              <a:t>biznesning umumiy daromadini ko‘rsatib, moliyaviy holat va o‘sishni baholashning asosiy ko‘rsatkichidir.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b="1" dirty="0"/>
              <a:t>Inventory Turnover -</a:t>
            </a:r>
            <a:r>
              <a:rPr lang="en" sz="1500" dirty="0"/>
              <a:t> mahsulot zaxiralarining qanchalik tez sotilib yangilanayotganini ko‘rsatadigan asosiy samaradorlik ko‘rsatkichidir.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b="1" dirty="0"/>
              <a:t>Gross Profit by Category - </a:t>
            </a:r>
            <a:r>
              <a:rPr lang="en" sz="1500" dirty="0"/>
              <a:t>har bir mahsulot kategoriyasi qanchalik foyda keltirayotganini ko‘rsatadigan asosiy rentabellik ko‘rsatkichidir.</a:t>
            </a:r>
            <a:endParaRPr sz="15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500" b="1" dirty="0"/>
              <a:t>Staff Revenue Contribution - </a:t>
            </a:r>
            <a:r>
              <a:rPr lang="en" sz="1500" dirty="0"/>
              <a:t>har bir xodim biznesga qancha daromad qo‘shayotganini ko‘rsatadigan samaradorlik ko‘rsatkichidir</a:t>
            </a:r>
            <a:r>
              <a:rPr lang="en" sz="1400" dirty="0"/>
              <a:t>.</a:t>
            </a:r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>
            <a:spLocks noGrp="1"/>
          </p:cNvSpPr>
          <p:nvPr>
            <p:ph type="title"/>
          </p:nvPr>
        </p:nvSpPr>
        <p:spPr>
          <a:xfrm>
            <a:off x="105675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Tahliliy Hisobotlar: Views (Ko'rishlar)</a:t>
            </a:r>
            <a:endParaRPr dirty="0"/>
          </a:p>
        </p:txBody>
      </p:sp>
      <p:sp>
        <p:nvSpPr>
          <p:cNvPr id="310" name="Google Shape;310;p18"/>
          <p:cNvSpPr txBox="1">
            <a:spLocks noGrp="1"/>
          </p:cNvSpPr>
          <p:nvPr>
            <p:ph type="body" idx="1"/>
          </p:nvPr>
        </p:nvSpPr>
        <p:spPr>
          <a:xfrm>
            <a:off x="445350" y="1620826"/>
            <a:ext cx="8253300" cy="3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457200" lvl="0" indent="-329644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300" b="1" dirty="0"/>
              <a:t>vw_StoreSalesSummary: </a:t>
            </a:r>
            <a:r>
              <a:rPr lang="en" sz="3300" dirty="0"/>
              <a:t>Har bir do'kon uchun daromad, buyurtmalar soni va AOVni ko'rsatadi;</a:t>
            </a:r>
            <a:endParaRPr sz="3300" dirty="0"/>
          </a:p>
          <a:p>
            <a:pPr marL="457200" lvl="0" indent="-329644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300" b="1" dirty="0"/>
              <a:t>vw_TopSellingProducts: </a:t>
            </a:r>
            <a:r>
              <a:rPr lang="en" sz="3300" dirty="0"/>
              <a:t>Mahsulotlarni umumiy savdo bo'yicha tartiblaydi;</a:t>
            </a:r>
            <a:endParaRPr sz="3300" dirty="0"/>
          </a:p>
          <a:p>
            <a:pPr marL="457200" lvl="0" indent="-329644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300" b="1" dirty="0"/>
              <a:t>vw_RegionalTrends: </a:t>
            </a:r>
            <a:r>
              <a:rPr lang="en" sz="3300" dirty="0"/>
              <a:t>Shahar yoki mintaqa bo'yicha daromadni ko'rsatadi;</a:t>
            </a:r>
            <a:endParaRPr sz="3300" dirty="0"/>
          </a:p>
          <a:p>
            <a:pPr marL="457200" lvl="0" indent="-329644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300" b="1" dirty="0"/>
              <a:t>vw_StaffPerformance: </a:t>
            </a:r>
            <a:r>
              <a:rPr lang="en" sz="3300" dirty="0"/>
              <a:t>Har bir xodim uchun buyurtmalar va daromadlarni ko’rsatadi;</a:t>
            </a:r>
            <a:endParaRPr sz="3300" dirty="0"/>
          </a:p>
          <a:p>
            <a:pPr marL="457200" lvl="0" indent="-329644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300" b="1" dirty="0"/>
              <a:t>vw_InventoryStatus:</a:t>
            </a:r>
            <a:r>
              <a:rPr lang="en" sz="3300" dirty="0"/>
              <a:t> Mahsulotlarning ombordagi qiymatini ko’rsatadi;</a:t>
            </a:r>
            <a:endParaRPr sz="3300" dirty="0"/>
          </a:p>
          <a:p>
            <a:pPr marL="457200" lvl="0" indent="-329644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300" b="1" dirty="0"/>
              <a:t>vw_SalesByCategory: </a:t>
            </a:r>
            <a:r>
              <a:rPr lang="en" sz="3300" dirty="0"/>
              <a:t>Mahsulot toifalari bo‘yicha sotuv hajmi va marjasini ko’rsatadi;</a:t>
            </a:r>
            <a:endParaRPr sz="3300" dirty="0"/>
          </a:p>
          <a:p>
            <a:pPr marL="457200" lvl="0" indent="-329644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300" b="1" dirty="0"/>
              <a:t>vw_ProductProfitability:</a:t>
            </a:r>
            <a:r>
              <a:rPr lang="en" sz="3300" dirty="0"/>
              <a:t> mahsulot qancha foyda keltirganini ko’rsatadi.</a:t>
            </a:r>
            <a:endParaRPr sz="3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>
            <a:spLocks noGrp="1"/>
          </p:cNvSpPr>
          <p:nvPr>
            <p:ph type="title"/>
          </p:nvPr>
        </p:nvSpPr>
        <p:spPr>
          <a:xfrm>
            <a:off x="1056750" y="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Harakatga Asoslangan Yechimlar: Stored Procedures</a:t>
            </a:r>
            <a:endParaRPr dirty="0"/>
          </a:p>
        </p:txBody>
      </p:sp>
      <p:sp>
        <p:nvSpPr>
          <p:cNvPr id="316" name="Google Shape;316;p19"/>
          <p:cNvSpPr txBox="1">
            <a:spLocks noGrp="1"/>
          </p:cNvSpPr>
          <p:nvPr>
            <p:ph type="body" idx="1"/>
          </p:nvPr>
        </p:nvSpPr>
        <p:spPr>
          <a:xfrm>
            <a:off x="556750" y="1080900"/>
            <a:ext cx="8210100" cy="3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b="1" dirty="0"/>
              <a:t>sp_GenerateRestockList: </a:t>
            </a:r>
            <a:r>
              <a:rPr lang="en" sz="1900" dirty="0"/>
              <a:t>Har bir do'kon uchun zaxirasi kam bo'lgan mahsulotlar ro'yxatini chiqaradi;</a:t>
            </a:r>
            <a:endParaRPr sz="19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b="1" dirty="0"/>
              <a:t>sp_CalculateStoreKPI: </a:t>
            </a:r>
            <a:r>
              <a:rPr lang="en" sz="1900" dirty="0"/>
              <a:t>Kiritilgan do'kon IDsi uchun to'liq KPI tahlilini qaytaradi;</a:t>
            </a:r>
            <a:endParaRPr sz="19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b="1" dirty="0"/>
              <a:t>sp_CompareSalesYearOverYear:</a:t>
            </a:r>
            <a:r>
              <a:rPr lang="en" sz="1900" dirty="0"/>
              <a:t> Sotuvlarni ikki yil oralig'ida taqqoslaydi;</a:t>
            </a:r>
            <a:endParaRPr sz="19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b="1" dirty="0"/>
              <a:t>sp_GetCustomerProfile:</a:t>
            </a:r>
            <a:r>
              <a:rPr lang="en" sz="1900" dirty="0"/>
              <a:t> Jami xarajatlar, buyurtmalar va xarid qilingan mahsulotlarning aksariyatini qaytaradi;</a:t>
            </a:r>
            <a:endParaRPr sz="19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b="1" dirty="0"/>
              <a:t>sp_GetLowPerformingProducts: </a:t>
            </a:r>
            <a:r>
              <a:rPr lang="en" sz="1900" dirty="0"/>
              <a:t>mahsulotning qancha sotilgani, qancha daromad olib kelgani va qancha borligini ko’rsatadi.</a:t>
            </a:r>
            <a:endParaRPr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>
            <a:spLocks noGrp="1"/>
          </p:cNvSpPr>
          <p:nvPr>
            <p:ph type="title"/>
          </p:nvPr>
        </p:nvSpPr>
        <p:spPr>
          <a:xfrm>
            <a:off x="987000" y="3520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Xulosa Va Natija</a:t>
            </a:r>
            <a:endParaRPr dirty="0"/>
          </a:p>
        </p:txBody>
      </p:sp>
      <p:sp>
        <p:nvSpPr>
          <p:cNvPr id="322" name="Google Shape;322;p20"/>
          <p:cNvSpPr txBox="1">
            <a:spLocks noGrp="1"/>
          </p:cNvSpPr>
          <p:nvPr>
            <p:ph type="body" idx="1"/>
          </p:nvPr>
        </p:nvSpPr>
        <p:spPr>
          <a:xfrm>
            <a:off x="1303800" y="15508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47345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200" b="1" dirty="0"/>
              <a:t>Yutuq:</a:t>
            </a:r>
            <a:r>
              <a:rPr lang="en" sz="2200" dirty="0"/>
              <a:t> BikeStore rahbariyati uchun har doim </a:t>
            </a:r>
            <a:r>
              <a:rPr lang="en" sz="2200" u="sng" dirty="0"/>
              <a:t>yangilanadigan</a:t>
            </a:r>
            <a:r>
              <a:rPr lang="en" sz="2200" dirty="0"/>
              <a:t>,</a:t>
            </a:r>
            <a:r>
              <a:rPr lang="en" sz="2200" u="sng" dirty="0"/>
              <a:t> ishonchli</a:t>
            </a:r>
            <a:r>
              <a:rPr lang="en" sz="2200" dirty="0"/>
              <a:t> va </a:t>
            </a:r>
            <a:r>
              <a:rPr lang="en" sz="2200" u="sng" dirty="0"/>
              <a:t>harakatga </a:t>
            </a:r>
            <a:r>
              <a:rPr lang="en" sz="2200" dirty="0"/>
              <a:t>asoslangan BI platformasi yaratildi;</a:t>
            </a:r>
            <a:endParaRPr sz="2200" dirty="0"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-347345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200" b="1" dirty="0"/>
              <a:t>Qiymat:</a:t>
            </a:r>
            <a:r>
              <a:rPr lang="en" sz="2200" dirty="0"/>
              <a:t> Endi ular inventar, xodimlar va savdo tendensiyalari bo'yicha </a:t>
            </a:r>
            <a:r>
              <a:rPr lang="en" sz="2200" u="sng" dirty="0"/>
              <a:t>tezroq qarorlar</a:t>
            </a:r>
            <a:r>
              <a:rPr lang="en" sz="2200" dirty="0"/>
              <a:t> qabul qilishlari mumkin.</a:t>
            </a:r>
            <a:endParaRPr sz="22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Экран (16:9)</PresentationFormat>
  <Paragraphs>52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Nunito</vt:lpstr>
      <vt:lpstr>Arial</vt:lpstr>
      <vt:lpstr>Maven Pro</vt:lpstr>
      <vt:lpstr>Momentum</vt:lpstr>
      <vt:lpstr>BikeStore BI Tizimi   Bunda SQL Server orqali ma’lumotlar taxlili va automatizatsiyasi jamlangan</vt:lpstr>
      <vt:lpstr>                      BI ssenariysi:</vt:lpstr>
      <vt:lpstr>Yechim Arhitekturasi:  Normalizatsiya Va ETL</vt:lpstr>
      <vt:lpstr>Avtomatlashtirish Asosi: SQL Agent Job</vt:lpstr>
      <vt:lpstr>Asosiy Biznes Ko'rsatkichlari (KPIs)</vt:lpstr>
      <vt:lpstr>Tahliliy Hisobotlar: Views (Ko'rishlar)</vt:lpstr>
      <vt:lpstr>Harakatga Asoslangan Yechimlar: Stored Procedures</vt:lpstr>
      <vt:lpstr>Xulosa Va Natija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BikeStore BI Tizimi   Bunda SQL Server orqali ma’lumotlar taxlili va automatizatsiyasi jamlangan</dc:title>
  <cp:lastModifiedBy>Islom Safarov</cp:lastModifiedBy>
  <cp:revision>1</cp:revision>
  <dcterms:modified xsi:type="dcterms:W3CDTF">2025-12-10T14:51:07Z</dcterms:modified>
</cp:coreProperties>
</file>